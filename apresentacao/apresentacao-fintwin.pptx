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EA5E9"/>
                </a:solidFill>
                <a:latin typeface="Calibri"/>
              </a:defRPr>
            </a:pPr>
            <a:r>
              <a:t>FinTwin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Calibri"/>
              </a:defRPr>
            </a:pPr>
            <a:r>
              <a:t>Plataforma de Gestão Financeira Pessoal</a:t>
            </a:r>
            <a:br/>
            <a:r>
              <a:t>com Integração Open Banking 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defRPr sz="1200">
                <a:solidFill>
                  <a:srgbClr val="64738B"/>
                </a:solidFill>
                <a:latin typeface="Calibri"/>
              </a:defRPr>
            </a:pPr>
            <a:r>
              <a:t>Autor: Henrique Miguel Silva Laia (Nº 51667)</a:t>
            </a:r>
          </a:p>
          <a:p>
            <a:pPr algn="ctr">
              <a:spcBef>
                <a:spcPts val="400"/>
              </a:spcBef>
              <a:defRPr sz="1200">
                <a:solidFill>
                  <a:srgbClr val="64738B"/>
                </a:solidFill>
                <a:latin typeface="Calibri"/>
              </a:defRPr>
            </a:pPr>
            <a:r>
              <a:t>Orientador: Professor Doutor Nuno Pombo</a:t>
            </a:r>
          </a:p>
          <a:p>
            <a:pPr algn="ctr">
              <a:spcBef>
                <a:spcPts val="400"/>
              </a:spcBef>
              <a:defRPr sz="1200">
                <a:solidFill>
                  <a:srgbClr val="64738B"/>
                </a:solidFill>
                <a:latin typeface="Calibri"/>
              </a:defRPr>
            </a:pPr>
            <a:r>
              <a:t>Universidade da Beira Interior | Departamento de Informática</a:t>
            </a:r>
          </a:p>
          <a:p>
            <a:pPr algn="ctr">
              <a:spcBef>
                <a:spcPts val="400"/>
              </a:spcBef>
              <a:defRPr sz="1200">
                <a:solidFill>
                  <a:srgbClr val="64738B"/>
                </a:solidFill>
                <a:latin typeface="Calibri"/>
              </a:defRPr>
            </a:pPr>
            <a:r>
              <a:t>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777240"/>
            <a:ext cx="9144000" cy="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234440"/>
            <a:ext cx="137160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  <a:latin typeface="Calibri"/>
              </a:defRPr>
            </a:pPr>
            <a:r>
              <a:t>Introdução e Contexto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37160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  <a:latin typeface="Calibri"/>
              </a:defRPr>
            </a:pPr>
            <a:r>
              <a:t>Estado da Arte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137160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  <a:latin typeface="Calibri"/>
              </a:defRPr>
            </a:pPr>
            <a:r>
              <a:t>Arquitetura do Sistema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137160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  <a:latin typeface="Calibri"/>
              </a:defRPr>
            </a:pPr>
            <a:r>
              <a:t>Implementação Técnica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234440"/>
            <a:ext cx="137160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097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  <a:latin typeface="Calibri"/>
              </a:defRPr>
            </a:pPr>
            <a:r>
              <a:t>Machine Learning e 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828800"/>
            <a:ext cx="137160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6916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  <a:latin typeface="Calibri"/>
              </a:defRPr>
            </a:pPr>
            <a:r>
              <a:t>Simulador IRS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423160"/>
            <a:ext cx="137160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2286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  <a:latin typeface="Calibri"/>
              </a:defRPr>
            </a:pPr>
            <a:r>
              <a:t>Testes e Validação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3017520"/>
            <a:ext cx="137160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2880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  <a:latin typeface="Calibri"/>
              </a:defRPr>
            </a:pPr>
            <a:r>
              <a:t>Conclusões e Trabalho Futuro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3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Problema: Lacuna no Mercado Português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777240"/>
            <a:ext cx="9144000" cy="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solidFill>
            <a:srgbClr val="FFF0F5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Calibri"/>
              </a:defRPr>
            </a:pPr>
            <a:r>
              <a:t>Ausência de uma plataforma integrada que combine Open Banking + Categorização ML + Simulação IRS especificamente para o mercado português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51760"/>
            <a:ext cx="256032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9376D"/>
                </a:solidFill>
                <a:latin typeface="Calibri"/>
              </a:defRPr>
            </a:pPr>
            <a:r>
              <a:t>Literacia Financeira 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7490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A5E9"/>
                </a:solidFill>
                <a:latin typeface="Calibri"/>
              </a:defRPr>
            </a:pPr>
            <a:r>
              <a:t>Abaixo da</a:t>
            </a:r>
            <a:br/>
            <a:r>
              <a:t>médía EU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651760"/>
            <a:ext cx="256032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9376D"/>
                </a:solidFill>
                <a:latin typeface="Calibri"/>
              </a:defRPr>
            </a:pPr>
            <a:r>
              <a:t>Plataformas Existentes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7490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A5E9"/>
                </a:solidFill>
                <a:latin typeface="Calibri"/>
              </a:defRPr>
            </a:pPr>
            <a:r>
              <a:t>Sem IRS</a:t>
            </a:r>
            <a:br/>
            <a:r>
              <a:t>Integrado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651760"/>
            <a:ext cx="256032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9376D"/>
                </a:solidFill>
                <a:latin typeface="Calibri"/>
              </a:defRPr>
            </a:pPr>
            <a:r>
              <a:t>Open Banking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7490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A5E9"/>
                </a:solidFill>
                <a:latin typeface="Calibri"/>
              </a:defRPr>
            </a:pPr>
            <a:r>
              <a:t>Subutilizado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3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Objetivos Específicos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777240"/>
            <a:ext cx="9144000" cy="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005840"/>
            <a:ext cx="457200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OE1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0058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>
                <a:solidFill>
                  <a:srgbClr val="1E293B"/>
                </a:solidFill>
                <a:latin typeface="Calibri"/>
              </a:defRPr>
            </a:pPr>
            <a:r>
              <a:t>Integrar Open Banking com Salt Edge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81328"/>
            <a:ext cx="457200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OE2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81328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>
                <a:solidFill>
                  <a:srgbClr val="1E293B"/>
                </a:solidFill>
                <a:latin typeface="Calibri"/>
              </a:defRPr>
            </a:pPr>
            <a:r>
              <a:t>Categorização automática com ML (TF-IDF + Random Forest)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56816"/>
            <a:ext cx="457200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56816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OE3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56816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>
                <a:solidFill>
                  <a:srgbClr val="1E293B"/>
                </a:solidFill>
                <a:latin typeface="Calibri"/>
              </a:defRPr>
            </a:pPr>
            <a:r>
              <a:t>Simulador IRS para categorias A e 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32304"/>
            <a:ext cx="457200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32304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OE4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432304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>
                <a:solidFill>
                  <a:srgbClr val="1E293B"/>
                </a:solidFill>
                <a:latin typeface="Calibri"/>
              </a:defRPr>
            </a:pPr>
            <a:r>
              <a:t>Interface Glass Morphism com Dark Mode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07792"/>
            <a:ext cx="457200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07792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OE5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907792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>
                <a:solidFill>
                  <a:srgbClr val="1E293B"/>
                </a:solidFill>
                <a:latin typeface="Calibri"/>
              </a:defRPr>
            </a:pPr>
            <a:r>
              <a:t>Arquitetura em Microserviços com Docker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83280"/>
            <a:ext cx="457200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38328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OE6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3832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>
                <a:solidFill>
                  <a:srgbClr val="1E293B"/>
                </a:solidFill>
                <a:latin typeface="Calibri"/>
              </a:defRPr>
            </a:pPr>
            <a:r>
              <a:t>Autenticação segura com Supabase Auth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58768"/>
            <a:ext cx="457200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858768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OE7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858768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>
                <a:solidFill>
                  <a:srgbClr val="1E293B"/>
                </a:solidFill>
                <a:latin typeface="Calibri"/>
              </a:defRPr>
            </a:pPr>
            <a:r>
              <a:t>Testes de usabilidade e validação do modelo 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3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Estado da Arte: Análise Comparativa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777240"/>
            <a:ext cx="9144000" cy="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1005840"/>
            <a:ext cx="2" cy="411480"/>
          </a:xfrm>
          <a:prstGeom prst="rect">
            <a:avLst/>
          </a:prstGeom>
          <a:solidFill>
            <a:srgbClr val="19376D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Plataforma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2" y="1005840"/>
            <a:ext cx="2" cy="411480"/>
          </a:xfrm>
          <a:prstGeom prst="rect">
            <a:avLst/>
          </a:prstGeom>
          <a:solidFill>
            <a:srgbClr val="19376D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2" y="105156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Open Banking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4" y="1005840"/>
            <a:ext cx="2" cy="411480"/>
          </a:xfrm>
          <a:prstGeom prst="rect">
            <a:avLst/>
          </a:prstGeom>
          <a:solidFill>
            <a:srgbClr val="19376D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4" y="105156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ML Categ.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6" y="1005840"/>
            <a:ext cx="2" cy="411480"/>
          </a:xfrm>
          <a:prstGeom prst="rect">
            <a:avLst/>
          </a:prstGeom>
          <a:solidFill>
            <a:srgbClr val="19376D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6" y="105156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IRS 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417320"/>
            <a:ext cx="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46304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Copilot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2" y="1417320"/>
            <a:ext cx="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2" y="146304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4" y="1417320"/>
            <a:ext cx="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4" y="146304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6" y="1417320"/>
            <a:ext cx="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6" y="146304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1828800"/>
            <a:ext cx="2" cy="411480"/>
          </a:xfrm>
          <a:prstGeom prst="rect">
            <a:avLst/>
          </a:prstGeom>
          <a:solidFill>
            <a:srgbClr val="F0F5FA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187452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Monarch Money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2" y="1828800"/>
            <a:ext cx="2" cy="411480"/>
          </a:xfrm>
          <a:prstGeom prst="rect">
            <a:avLst/>
          </a:prstGeom>
          <a:solidFill>
            <a:srgbClr val="F0F5FA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2" y="187452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4" y="1828800"/>
            <a:ext cx="2" cy="411480"/>
          </a:xfrm>
          <a:prstGeom prst="rect">
            <a:avLst/>
          </a:prstGeom>
          <a:solidFill>
            <a:srgbClr val="F0F5FA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4" y="187452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6" y="1828800"/>
            <a:ext cx="2" cy="411480"/>
          </a:xfrm>
          <a:prstGeom prst="rect">
            <a:avLst/>
          </a:prstGeom>
          <a:solidFill>
            <a:srgbClr val="F0F5FA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6" y="187452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2240280"/>
            <a:ext cx="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228600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Revolut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2" y="2240280"/>
            <a:ext cx="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2" y="228600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4" y="2240280"/>
            <a:ext cx="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4" y="228600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6" y="2240280"/>
            <a:ext cx="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6" y="228600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2651760"/>
            <a:ext cx="2" cy="411480"/>
          </a:xfrm>
          <a:prstGeom prst="rect">
            <a:avLst/>
          </a:prstGeom>
          <a:solidFill>
            <a:srgbClr val="F0F5FA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269748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N26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2" y="2651760"/>
            <a:ext cx="2" cy="411480"/>
          </a:xfrm>
          <a:prstGeom prst="rect">
            <a:avLst/>
          </a:prstGeom>
          <a:solidFill>
            <a:srgbClr val="F0F5FA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2" y="269748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4" y="2651760"/>
            <a:ext cx="2" cy="411480"/>
          </a:xfrm>
          <a:prstGeom prst="rect">
            <a:avLst/>
          </a:prstGeom>
          <a:solidFill>
            <a:srgbClr val="F0F5FA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4" y="269748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6" y="2651760"/>
            <a:ext cx="2" cy="411480"/>
          </a:xfrm>
          <a:prstGeom prst="rect">
            <a:avLst/>
          </a:prstGeom>
          <a:solidFill>
            <a:srgbClr val="F0F5FA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6" y="269748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3063240"/>
            <a:ext cx="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310896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Moey!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2" y="3063240"/>
            <a:ext cx="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2" y="310896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4" y="3063240"/>
            <a:ext cx="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4" y="310896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6" y="3063240"/>
            <a:ext cx="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6" y="310896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3474720"/>
            <a:ext cx="2" cy="411480"/>
          </a:xfrm>
          <a:prstGeom prst="rect">
            <a:avLst/>
          </a:prstGeom>
          <a:solidFill>
            <a:srgbClr val="0EA5E9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352044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FinTwin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2" y="3474720"/>
            <a:ext cx="2" cy="411480"/>
          </a:xfrm>
          <a:prstGeom prst="rect">
            <a:avLst/>
          </a:prstGeom>
          <a:solidFill>
            <a:srgbClr val="0EA5E9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2" y="352044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4" y="3474720"/>
            <a:ext cx="2" cy="411480"/>
          </a:xfrm>
          <a:prstGeom prst="rect">
            <a:avLst/>
          </a:prstGeom>
          <a:solidFill>
            <a:srgbClr val="0EA5E9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4" y="352044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6" y="3474720"/>
            <a:ext cx="2" cy="411480"/>
          </a:xfrm>
          <a:prstGeom prst="rect">
            <a:avLst/>
          </a:prstGeom>
          <a:solidFill>
            <a:srgbClr val="0EA5E9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6" y="352044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3474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19376D"/>
                </a:solidFill>
                <a:latin typeface="Calibri"/>
              </a:defRPr>
            </a:pPr>
            <a:r>
              <a:t>FinTwin é a única plataforma que integra todas as três dimensões: acesso a dados bancários, categorização inteligente com Machine Learning e simulação de IRS específica para Portugal.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3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Arquitetura do Sistema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777240"/>
            <a:ext cx="9144000" cy="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88720"/>
            <a:ext cx="1463040" cy="1371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280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  <a:br/>
            <a:r>
              <a:t>React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188720"/>
            <a:ext cx="1463040" cy="13716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463040"/>
            <a:ext cx="1280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  <a:br/>
            <a:r>
              <a:t>Node.js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1188720"/>
            <a:ext cx="1463040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79" y="1463040"/>
            <a:ext cx="1280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ML Service</a:t>
            </a:r>
            <a:br/>
            <a:r>
              <a:t>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1188720"/>
            <a:ext cx="14630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1463040"/>
            <a:ext cx="1280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  <a:br/>
            <a:r>
              <a:t>Redis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1188720"/>
            <a:ext cx="1463040" cy="13716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1463040"/>
            <a:ext cx="1280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External</a:t>
            </a:r>
            <a:br/>
            <a:r>
              <a:t>APIs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20240" y="1874520.0"/>
            <a:ext cx="182880" cy="0.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566160" y="1874520.0"/>
            <a:ext cx="182879" cy="0.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212079" y="1874520.0"/>
            <a:ext cx="182881" cy="0.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1874520.0"/>
            <a:ext cx="182880" cy="0.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57200" y="2834640"/>
            <a:ext cx="2286000" cy="1097280"/>
          </a:xfrm>
          <a:prstGeom prst="rect">
            <a:avLst/>
          </a:prstGeom>
          <a:solidFill>
            <a:srgbClr val="37415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971800"/>
            <a:ext cx="2103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>
                <a:solidFill>
                  <a:srgbClr val="0EA5E9"/>
                </a:solidFill>
                <a:latin typeface="Calibri"/>
              </a:defRPr>
            </a:pPr>
            <a:r>
              <a:t>Salt Edge API</a:t>
            </a:r>
            <a:br/>
            <a:r>
              <a:t>(Open Banking)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2834640"/>
            <a:ext cx="2286000" cy="1097280"/>
          </a:xfrm>
          <a:prstGeom prst="rect">
            <a:avLst/>
          </a:prstGeom>
          <a:solidFill>
            <a:srgbClr val="37415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2971800"/>
            <a:ext cx="2103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>
                <a:solidFill>
                  <a:srgbClr val="0EA5E9"/>
                </a:solidFill>
                <a:latin typeface="Calibri"/>
              </a:defRPr>
            </a:pPr>
            <a:r>
              <a:t>Supabase Auth</a:t>
            </a:r>
            <a:br/>
            <a:r>
              <a:t>(Identity)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2834640"/>
            <a:ext cx="2286000" cy="1097280"/>
          </a:xfrm>
          <a:prstGeom prst="rect">
            <a:avLst/>
          </a:prstGeom>
          <a:solidFill>
            <a:srgbClr val="37415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971800"/>
            <a:ext cx="2103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>
                <a:solidFill>
                  <a:srgbClr val="0EA5E9"/>
                </a:solidFill>
                <a:latin typeface="Calibri"/>
              </a:defRPr>
            </a:pPr>
            <a:r>
              <a:t>Docker</a:t>
            </a:r>
            <a:br/>
            <a:r>
              <a:t>(Containerization)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3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Stack Tecnológica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777240"/>
            <a:ext cx="9144000" cy="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051560"/>
            <a:ext cx="1097280" cy="4572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00584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React, TypeScript, Framer Motion, Tailwind 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005840"/>
            <a:ext cx="3566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i="1">
                <a:solidFill>
                  <a:srgbClr val="64738B"/>
                </a:solidFill>
                <a:latin typeface="Calibri"/>
              </a:defRPr>
            </a:pPr>
            <a:r>
              <a:t>Interfaces responsivas e animations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18488"/>
            <a:ext cx="1097280" cy="4572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18488"/>
            <a:ext cx="1097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72768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Node.js, Express, Socket.io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572768"/>
            <a:ext cx="3566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i="1">
                <a:solidFill>
                  <a:srgbClr val="64738B"/>
                </a:solidFill>
                <a:latin typeface="Calibri"/>
              </a:defRPr>
            </a:pPr>
            <a:r>
              <a:t>APIs REST, real-time, escalabilidade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85416"/>
            <a:ext cx="1097280" cy="4572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85416"/>
            <a:ext cx="1097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ML/IA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139696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Python, Scikit-learn, TF-IDF, 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139696"/>
            <a:ext cx="3566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i="1">
                <a:solidFill>
                  <a:srgbClr val="64738B"/>
                </a:solidFill>
                <a:latin typeface="Calibri"/>
              </a:defRPr>
            </a:pPr>
            <a:r>
              <a:t>Categorização automática e análise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52344"/>
            <a:ext cx="1097280" cy="4572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52344"/>
            <a:ext cx="1097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706624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PostgreSQL, Redis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706624"/>
            <a:ext cx="3566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i="1">
                <a:solidFill>
                  <a:srgbClr val="64738B"/>
                </a:solidFill>
                <a:latin typeface="Calibri"/>
              </a:defRPr>
            </a:pPr>
            <a:r>
              <a:t>Persistência e cache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19272"/>
            <a:ext cx="1097280" cy="4572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319272"/>
            <a:ext cx="1097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3273552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Supabase Auth, JWT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273552"/>
            <a:ext cx="3566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i="1">
                <a:solidFill>
                  <a:srgbClr val="64738B"/>
                </a:solidFill>
                <a:latin typeface="Calibri"/>
              </a:defRPr>
            </a:pPr>
            <a:r>
              <a:t>Autenticação segura e SSO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886200"/>
            <a:ext cx="1097280" cy="4572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886200"/>
            <a:ext cx="1097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Infra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384048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Docker, Docker Compose, Twelve-Factor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840480"/>
            <a:ext cx="3566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i="1">
                <a:solidFill>
                  <a:srgbClr val="64738B"/>
                </a:solidFill>
                <a:latin typeface="Calibri"/>
              </a:defRPr>
            </a:pPr>
            <a:r>
              <a:t>Containerização e 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3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Open Banking &amp; PSD2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777240"/>
            <a:ext cx="9144000" cy="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88720"/>
            <a:ext cx="146304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280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  <a:br/>
            <a:r>
              <a:t>Utilizador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1691640.0"/>
            <a:ext cx="274320" cy="0.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194560" y="1188720"/>
            <a:ext cx="1463040" cy="100584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280160"/>
            <a:ext cx="1280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  <a:br/>
            <a:r>
              <a:t>Frontend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1691640.0"/>
            <a:ext cx="274320" cy="0.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931920" y="1188720"/>
            <a:ext cx="1463040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1280160"/>
            <a:ext cx="1280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  <a:br/>
            <a:r>
              <a:t>Backend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94960" y="1691640.0"/>
            <a:ext cx="274320" cy="0.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669280" y="1188720"/>
            <a:ext cx="146304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1280160"/>
            <a:ext cx="1280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  <a:br/>
            <a:r>
              <a:t>Salt Edge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32320" y="1691640.0"/>
            <a:ext cx="274320" cy="0.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406640" y="1188720"/>
            <a:ext cx="1463040" cy="1005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0" y="1280160"/>
            <a:ext cx="1280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  <a:br/>
            <a:r>
              <a:t>Banco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468880"/>
            <a:ext cx="4023360" cy="2103120"/>
          </a:xfrm>
          <a:prstGeom prst="rect">
            <a:avLst/>
          </a:prstGeom>
          <a:solidFill>
            <a:srgbClr val="F0F5FA"/>
          </a:solidFill>
          <a:ln w="1905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06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9376D"/>
                </a:solidFill>
                <a:latin typeface="Calibri"/>
              </a:defRPr>
            </a:pPr>
            <a:r>
              <a:t>AISP (Account Information Service Provider)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92608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Calibri"/>
              </a:defRPr>
            </a:pPr>
            <a:r>
              <a:t>Acesso seguro a informações de contas bancárias do utilizador através da PSD2, com permissão explícita e conformidade regulatória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2468880"/>
            <a:ext cx="4023360" cy="2103120"/>
          </a:xfrm>
          <a:prstGeom prst="rect">
            <a:avLst/>
          </a:prstGeom>
          <a:solidFill>
            <a:srgbClr val="F0FAF5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2606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Calibri"/>
              </a:defRPr>
            </a:pPr>
            <a:r>
              <a:t>Benefícios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292608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✓ Dados reais e atualizados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✓ Sem entrada manual de dados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✓ Integração com múltiplos bancos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✓ Conformidade com regulamentações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3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Machine Learning: Categorização Automática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777240"/>
            <a:ext cx="9144000" cy="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88720"/>
            <a:ext cx="1920240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737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1. Preprocessamento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7440" y="1645920"/>
            <a:ext cx="182880" cy="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560320" y="1188720"/>
            <a:ext cx="1920240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325880"/>
            <a:ext cx="1737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2. TF-IDF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80560" y="1645920"/>
            <a:ext cx="182880" cy="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663440" y="1188720"/>
            <a:ext cx="1920240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325880"/>
            <a:ext cx="1737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3. Random Forest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83680" y="1645920"/>
            <a:ext cx="182880" cy="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766560" y="1188720"/>
            <a:ext cx="1920240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325880"/>
            <a:ext cx="1737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4. Predição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86000"/>
            <a:ext cx="1920240" cy="1645920"/>
          </a:xfrm>
          <a:prstGeom prst="rect">
            <a:avLst/>
          </a:prstGeom>
          <a:solidFill>
            <a:srgbClr val="374151"/>
          </a:solidFill>
          <a:ln w="2540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42316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EA5E9"/>
                </a:solidFill>
                <a:latin typeface="Calibri"/>
              </a:defRPr>
            </a:pPr>
            <a:r>
              <a:t>Dados Treino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834640"/>
            <a:ext cx="17373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9376D"/>
                </a:solidFill>
                <a:latin typeface="Calibri"/>
              </a:defRPr>
            </a:pPr>
            <a:r>
              <a:t>Português</a:t>
            </a:r>
            <a:br/>
            <a:r>
              <a:t>(seed data)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2286000"/>
            <a:ext cx="1920240" cy="1645920"/>
          </a:xfrm>
          <a:prstGeom prst="rect">
            <a:avLst/>
          </a:prstGeom>
          <a:solidFill>
            <a:srgbClr val="374151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242316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EA5E9"/>
                </a:solidFill>
                <a:latin typeface="Calibri"/>
              </a:defRPr>
            </a:pPr>
            <a:r>
              <a:t>Retraining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834640"/>
            <a:ext cx="17373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EA5E9"/>
                </a:solidFill>
                <a:latin typeface="Calibri"/>
              </a:defRPr>
            </a:pPr>
            <a:r>
              <a:t>Incremental</a:t>
            </a:r>
            <a:br/>
            <a:r>
              <a:t>(contínuo)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2286000"/>
            <a:ext cx="1920240" cy="1645920"/>
          </a:xfrm>
          <a:prstGeom prst="rect">
            <a:avLst/>
          </a:prstGeom>
          <a:solidFill>
            <a:srgbClr val="374151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242316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EA5E9"/>
                </a:solidFill>
                <a:latin typeface="Calibri"/>
              </a:defRPr>
            </a:pPr>
            <a:r>
              <a:t>Categorias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834640"/>
            <a:ext cx="17373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8B5CF6"/>
                </a:solidFill>
                <a:latin typeface="Calibri"/>
              </a:defRPr>
            </a:pPr>
            <a:r>
              <a:t>15 categorias</a:t>
            </a:r>
            <a:br/>
            <a:r>
              <a:t>detalhadas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2286000"/>
            <a:ext cx="1920240" cy="1645920"/>
          </a:xfrm>
          <a:prstGeom prst="rect">
            <a:avLst/>
          </a:prstGeom>
          <a:solidFill>
            <a:srgbClr val="374151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242316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EA5E9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834640"/>
            <a:ext cx="17373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  <a:latin typeface="Calibri"/>
              </a:defRPr>
            </a:pPr>
            <a:r>
              <a:t>&gt;80%</a:t>
            </a:r>
            <a:br/>
            <a:r>
              <a:t>target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20624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4738B"/>
                </a:solidFill>
                <a:latin typeface="Calibri"/>
              </a:defRPr>
            </a:pPr>
            <a:r>
              <a:t>Categorias: Alimentação • Transportes • Habitação • Saúde • Educação • Entretenimento • Vestuário • Seguros • Utilidades • Subscriptions • Viagens • Investimentos • Devoluções • Outros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3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Simulador IRS para Portugal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777240"/>
            <a:ext cx="9144000" cy="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Calibri"/>
              </a:defRPr>
            </a:pPr>
            <a:r>
              <a:t>Escalões de IRS (2026)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2" cy="320040"/>
          </a:xfrm>
          <a:prstGeom prst="rect">
            <a:avLst/>
          </a:prstGeom>
          <a:solidFill>
            <a:srgbClr val="19376D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-18287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Escalão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2" y="1325880"/>
            <a:ext cx="2" cy="320040"/>
          </a:xfrm>
          <a:prstGeom prst="rect">
            <a:avLst/>
          </a:prstGeom>
          <a:solidFill>
            <a:srgbClr val="19376D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2" y="132588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Até 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4" y="1325880"/>
            <a:ext cx="2" cy="320040"/>
          </a:xfrm>
          <a:prstGeom prst="rect">
            <a:avLst/>
          </a:prstGeom>
          <a:solidFill>
            <a:srgbClr val="19376D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4" y="1325880"/>
            <a:ext cx="-18287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Taxa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45920"/>
            <a:ext cx="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45920"/>
            <a:ext cx="-18287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1E293B"/>
                </a:solidFill>
                <a:latin typeface="Calibri"/>
              </a:defRPr>
            </a:pPr>
            <a:r>
              <a:t>1º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2" y="1645920"/>
            <a:ext cx="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2" y="164592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1E293B"/>
                </a:solidFill>
                <a:latin typeface="Calibri"/>
              </a:defRPr>
            </a:pPr>
            <a:r>
              <a:t>7.091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4" y="1645920"/>
            <a:ext cx="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4" y="1645920"/>
            <a:ext cx="-18287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1E293B"/>
                </a:solidFill>
                <a:latin typeface="Calibri"/>
              </a:defRPr>
            </a:pPr>
            <a:r>
              <a:t>14.5%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965960"/>
            <a:ext cx="2" cy="320040"/>
          </a:xfrm>
          <a:prstGeom prst="rect">
            <a:avLst/>
          </a:prstGeom>
          <a:solidFill>
            <a:srgbClr val="F0F5FA"/>
          </a:solidFill>
          <a:ln w="63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1965960"/>
            <a:ext cx="-18287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1E293B"/>
                </a:solidFill>
                <a:latin typeface="Calibri"/>
              </a:defRPr>
            </a:pPr>
            <a:r>
              <a:t>2º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2" y="1965960"/>
            <a:ext cx="2" cy="320040"/>
          </a:xfrm>
          <a:prstGeom prst="rect">
            <a:avLst/>
          </a:prstGeom>
          <a:solidFill>
            <a:srgbClr val="F0F5FA"/>
          </a:solidFill>
          <a:ln w="63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2" y="196596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1E293B"/>
                </a:solidFill>
                <a:latin typeface="Calibri"/>
              </a:defRPr>
            </a:pPr>
            <a:r>
              <a:t>10.573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4" y="1965960"/>
            <a:ext cx="2" cy="320040"/>
          </a:xfrm>
          <a:prstGeom prst="rect">
            <a:avLst/>
          </a:prstGeom>
          <a:solidFill>
            <a:srgbClr val="F0F5FA"/>
          </a:solidFill>
          <a:ln w="63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4" y="1965960"/>
            <a:ext cx="-18287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1E293B"/>
                </a:solidFill>
                <a:latin typeface="Calibri"/>
              </a:defRPr>
            </a:pPr>
            <a:r>
              <a:t>23%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286000"/>
            <a:ext cx="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286000"/>
            <a:ext cx="-18287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1E293B"/>
                </a:solidFill>
                <a:latin typeface="Calibri"/>
              </a:defRPr>
            </a:pPr>
            <a:r>
              <a:t>3º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2" y="2286000"/>
            <a:ext cx="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2" y="228600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1E293B"/>
                </a:solidFill>
                <a:latin typeface="Calibri"/>
              </a:defRPr>
            </a:pPr>
            <a:r>
              <a:t>20.322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4" y="2286000"/>
            <a:ext cx="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4" y="2286000"/>
            <a:ext cx="-18287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1E293B"/>
                </a:solidFill>
                <a:latin typeface="Calibri"/>
              </a:defRPr>
            </a:pPr>
            <a:r>
              <a:t>28.5%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606040"/>
            <a:ext cx="2" cy="320040"/>
          </a:xfrm>
          <a:prstGeom prst="rect">
            <a:avLst/>
          </a:prstGeom>
          <a:solidFill>
            <a:srgbClr val="F0F5FA"/>
          </a:solidFill>
          <a:ln w="63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606040"/>
            <a:ext cx="-18287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1E293B"/>
                </a:solidFill>
                <a:latin typeface="Calibri"/>
              </a:defRPr>
            </a:pPr>
            <a:r>
              <a:t>4º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2" y="2606040"/>
            <a:ext cx="2" cy="320040"/>
          </a:xfrm>
          <a:prstGeom prst="rect">
            <a:avLst/>
          </a:prstGeom>
          <a:solidFill>
            <a:srgbClr val="F0F5FA"/>
          </a:solidFill>
          <a:ln w="63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2" y="260604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1E293B"/>
                </a:solidFill>
                <a:latin typeface="Calibri"/>
              </a:defRPr>
            </a:pPr>
            <a:r>
              <a:t>25.078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4" y="2606040"/>
            <a:ext cx="2" cy="320040"/>
          </a:xfrm>
          <a:prstGeom prst="rect">
            <a:avLst/>
          </a:prstGeom>
          <a:solidFill>
            <a:srgbClr val="F0F5FA"/>
          </a:solidFill>
          <a:ln w="63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4" y="2606040"/>
            <a:ext cx="-18287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1E293B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926080"/>
            <a:ext cx="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2926080"/>
            <a:ext cx="-18287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1E293B"/>
                </a:solidFill>
                <a:latin typeface="Calibri"/>
              </a:defRPr>
            </a:pPr>
            <a:r>
              <a:t>5º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2" y="2926080"/>
            <a:ext cx="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2" y="292608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1E293B"/>
                </a:solidFill>
                <a:latin typeface="Calibri"/>
              </a:defRPr>
            </a:pPr>
            <a:r>
              <a:t>36.967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4" y="2926080"/>
            <a:ext cx="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4" y="2926080"/>
            <a:ext cx="-18287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1E293B"/>
                </a:solidFill>
                <a:latin typeface="Calibri"/>
              </a:defRPr>
            </a:pPr>
            <a:r>
              <a:t>37%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246120"/>
            <a:ext cx="2" cy="320040"/>
          </a:xfrm>
          <a:prstGeom prst="rect">
            <a:avLst/>
          </a:prstGeom>
          <a:solidFill>
            <a:srgbClr val="F0F5FA"/>
          </a:solidFill>
          <a:ln w="63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3246120"/>
            <a:ext cx="-18287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1E293B"/>
                </a:solidFill>
                <a:latin typeface="Calibri"/>
              </a:defRPr>
            </a:pPr>
            <a:r>
              <a:t>6º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2" y="3246120"/>
            <a:ext cx="2" cy="320040"/>
          </a:xfrm>
          <a:prstGeom prst="rect">
            <a:avLst/>
          </a:prstGeom>
          <a:solidFill>
            <a:srgbClr val="F0F5FA"/>
          </a:solidFill>
          <a:ln w="63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2" y="3246120"/>
            <a:ext cx="-182877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1E293B"/>
                </a:solidFill>
                <a:latin typeface="Calibri"/>
              </a:defRPr>
            </a:pPr>
            <a:r>
              <a:t>80.882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4" y="3246120"/>
            <a:ext cx="2" cy="320040"/>
          </a:xfrm>
          <a:prstGeom prst="rect">
            <a:avLst/>
          </a:prstGeom>
          <a:solidFill>
            <a:srgbClr val="F0F5FA"/>
          </a:solidFill>
          <a:ln w="63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4" y="3246120"/>
            <a:ext cx="-18287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>
                <a:solidFill>
                  <a:srgbClr val="1E293B"/>
                </a:solidFill>
                <a:latin typeface="Calibri"/>
              </a:defRPr>
            </a:pPr>
            <a:r>
              <a:t>43%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3749039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  <a:latin typeface="Calibri"/>
              </a:defRPr>
            </a:pPr>
            <a:r>
              <a:t>Funcionalidades Adicionais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023359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Deduções por categoria (combustível, educação)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Suporte para Cat. A (Salários) e Cat. B (Profissional)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Simulação de retenção na fonte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Reembolso estimado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3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Design: Glass Morphism &amp; Dark Mode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777240"/>
            <a:ext cx="9144000" cy="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88720"/>
            <a:ext cx="40233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Calibri"/>
              </a:defRPr>
            </a:pPr>
            <a:r>
              <a:t>Glass Cards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Calibri"/>
              </a:defRPr>
            </a:pPr>
            <a:r>
              <a:t>Efeito transparência com blur 10%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4023360" cy="1188720"/>
          </a:xfrm>
          <a:prstGeom prst="rect">
            <a:avLst/>
          </a:prstGeom>
          <a:solidFill>
            <a:srgbClr val="0EA5E9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Calibri"/>
              </a:defRPr>
            </a:pPr>
            <a:r>
              <a:t>Frosted Panels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Calibri"/>
              </a:defRPr>
            </a:pPr>
            <a:r>
              <a:t>Efeito transparência com blur 15%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188720"/>
            <a:ext cx="3931920" cy="2926080"/>
          </a:xfrm>
          <a:prstGeom prst="rect">
            <a:avLst/>
          </a:prstGeom>
          <a:solidFill>
            <a:srgbClr val="37415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32588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Calibri"/>
              </a:defRPr>
            </a:pPr>
            <a:r>
              <a:t>Características Principais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645920"/>
            <a:ext cx="3566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✓ Dark Mode Completo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✓ Animações Framer Motion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✓ WCAG AA Acessibilidade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✓ Gradientes Sutis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✓ Responsive Design 16:9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✓ Ícones Modernos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✓ Transições Fluidas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3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Docker &amp; Containerização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777240"/>
            <a:ext cx="9144000" cy="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20040" y="1005840"/>
            <a:ext cx="1645920" cy="1280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React 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005840"/>
            <a:ext cx="1645920" cy="12801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1188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554480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Node.js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1005840"/>
            <a:ext cx="1645920" cy="1280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1188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ml-service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554480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Python 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0" y="1005840"/>
            <a:ext cx="1645920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1188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postgres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1554480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1005840"/>
            <a:ext cx="1645920" cy="1280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1188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redis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1554480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Cache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5603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  <a:latin typeface="Calibri"/>
              </a:defRPr>
            </a:pPr>
            <a:r>
              <a:t>Benefícios da Containerização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80360"/>
            <a:ext cx="4114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✓ Isolamento de ambientes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✓ Reprodutibilidade garantida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✓ Deploy simplificado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880360"/>
            <a:ext cx="3931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✓ Scaling horizontal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✓ Twelve-Factor App compliance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✓ CI/CD ready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11880"/>
            <a:ext cx="8229600" cy="1280160"/>
          </a:xfrm>
          <a:prstGeom prst="rect">
            <a:avLst/>
          </a:prstGeom>
          <a:solidFill>
            <a:srgbClr val="F0F5FA"/>
          </a:solidFill>
          <a:ln w="1905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0332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9376D"/>
                </a:solidFill>
                <a:latin typeface="Calibri"/>
              </a:defRPr>
            </a:pPr>
            <a:r>
              <a:t>Workflow de Desenvolvimento: docker-compose up -d → Aplicação pronta em http://localhost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3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Metodologia: Scrum Adaptado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777240"/>
            <a:ext cx="9144000" cy="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00584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EA5E9"/>
                </a:solidFill>
                <a:latin typeface="Calibri"/>
              </a:defRPr>
            </a:pPr>
            <a:r>
              <a:t>Sprint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38B"/>
                </a:solidFill>
                <a:latin typeface="Calibri"/>
              </a:defRPr>
            </a:pPr>
            <a:r>
              <a:t>Apr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Calibri"/>
              </a:defRPr>
            </a:pPr>
            <a:r>
              <a:t>Infraestrutura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00584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097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EA5E9"/>
                </a:solidFill>
                <a:latin typeface="Calibri"/>
              </a:defRPr>
            </a:pPr>
            <a:r>
              <a:t>Sprint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38988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38B"/>
                </a:solidFill>
                <a:latin typeface="Calibri"/>
              </a:defRPr>
            </a:pPr>
            <a:r>
              <a:t>Apr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00584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097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EA5E9"/>
                </a:solidFill>
                <a:latin typeface="Calibri"/>
              </a:defRPr>
            </a:pPr>
            <a:r>
              <a:t>Sprint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38988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38B"/>
                </a:solidFill>
                <a:latin typeface="Calibri"/>
              </a:defRPr>
            </a:pPr>
            <a:r>
              <a:t>May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Salt Edge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100584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097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EA5E9"/>
                </a:solidFill>
                <a:latin typeface="Calibri"/>
              </a:defRPr>
            </a:pPr>
            <a:r>
              <a:t>Sprint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138988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38B"/>
                </a:solidFill>
                <a:latin typeface="Calibri"/>
              </a:defRPr>
            </a:pPr>
            <a:r>
              <a:t>May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423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EA5E9"/>
                </a:solidFill>
                <a:latin typeface="Calibri"/>
              </a:defRPr>
            </a:pPr>
            <a:r>
              <a:t>Sprint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71576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38B"/>
                </a:solidFill>
                <a:latin typeface="Calibri"/>
              </a:defRPr>
            </a:pPr>
            <a:r>
              <a:t>Jun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971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Calibri"/>
              </a:defRPr>
            </a:pPr>
            <a:r>
              <a:t>ML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600" y="233172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06040" y="2423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EA5E9"/>
                </a:solidFill>
                <a:latin typeface="Calibri"/>
              </a:defRPr>
            </a:pPr>
            <a:r>
              <a:t>Sprint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271576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38B"/>
                </a:solidFill>
                <a:latin typeface="Calibri"/>
              </a:defRPr>
            </a:pPr>
            <a:r>
              <a:t>Jun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2971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Calibri"/>
              </a:defRPr>
            </a:pPr>
            <a:r>
              <a:t>IRS Simulator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233172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2423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EA5E9"/>
                </a:solidFill>
                <a:latin typeface="Calibri"/>
              </a:defRPr>
            </a:pPr>
            <a:r>
              <a:t>Sprint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71576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38B"/>
                </a:solidFill>
                <a:latin typeface="Calibri"/>
              </a:defRPr>
            </a:pPr>
            <a:r>
              <a:t>Jul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2971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Calibri"/>
              </a:defRPr>
            </a:pPr>
            <a:r>
              <a:t>Testes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29400" y="233172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2423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EA5E9"/>
                </a:solidFill>
                <a:latin typeface="Calibri"/>
              </a:defRPr>
            </a:pPr>
            <a:r>
              <a:t>Sprint 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271576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38B"/>
                </a:solidFill>
                <a:latin typeface="Calibri"/>
              </a:defRPr>
            </a:pPr>
            <a:r>
              <a:t>Jul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971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Calibri"/>
              </a:defRPr>
            </a:pPr>
            <a:r>
              <a:t>Refinements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→ Daily standups (15 min)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→ Sprint planning &amp; review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→ Code reviews obrigatórios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→ CI/CD pipeline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38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Testes e Validação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777240"/>
            <a:ext cx="9144000" cy="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005840"/>
            <a:ext cx="1920240" cy="1645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SUS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&gt;70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FFFFFF"/>
                </a:solidFill>
                <a:latin typeface="Calibri"/>
              </a:defRPr>
            </a:pPr>
            <a:r>
              <a:t>Usabilidade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05840"/>
            <a:ext cx="1920240" cy="164592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143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ML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508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&gt;80%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0116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FFFFFF"/>
                </a:solidFill>
                <a:latin typeface="Calibri"/>
              </a:defRPr>
            </a:pPr>
            <a:r>
              <a:t>Modelo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005840"/>
            <a:ext cx="1920240" cy="1645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143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API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508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&lt;500ms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0116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FFFFFF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1005840"/>
            <a:ext cx="1920240" cy="1645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143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Test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508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10-15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0116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FFFFFF"/>
                </a:solidFill>
                <a:latin typeface="Calibri"/>
              </a:defRPr>
            </a:pPr>
            <a:r>
              <a:t>Validação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  <a:latin typeface="Calibri"/>
              </a:defRPr>
            </a:pPr>
            <a:r>
              <a:t>Plano de Testes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200400"/>
            <a:ext cx="8229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Unit Tests: Funções ML, cálculos IRS, handlers API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Integration Tests: Salt Edge, autenticação Supabase, fluxos completos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E2E Tests: Categorização transações, simulação IRS, navegação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User Testing: 10-15 utilizadores reais, SUS questionnaire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38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Conclusões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777240"/>
            <a:ext cx="9144000" cy="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051560"/>
            <a:ext cx="320040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320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05840"/>
            <a:ext cx="7772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Primeira plataforma integrada Open Banking + ML + IRS para PT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18488"/>
            <a:ext cx="320040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18488"/>
            <a:ext cx="320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72768"/>
            <a:ext cx="7772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Arquitetura escalável e cloud-ready com microserviços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85416"/>
            <a:ext cx="320040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85416"/>
            <a:ext cx="320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39696"/>
            <a:ext cx="7772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Machine Learning com seed data português (15 categorias)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52344"/>
            <a:ext cx="320040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52344"/>
            <a:ext cx="320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06624"/>
            <a:ext cx="7772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Design inovador com Glass Morphism e Dark Mode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19272"/>
            <a:ext cx="320040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319272"/>
            <a:ext cx="320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73552"/>
            <a:ext cx="7772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Testes rigorosos com validação de usabilidade (SUS)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86200"/>
            <a:ext cx="320040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320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40480"/>
            <a:ext cx="7772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Solução pronta para monetização e licença AISP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38B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Trabalho Futuro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777240"/>
            <a:ext cx="9144000" cy="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005840"/>
            <a:ext cx="28346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EA5E9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64738B"/>
                </a:solidFill>
                <a:latin typeface="Calibri"/>
              </a:defRPr>
            </a:pPr>
            <a:r>
              <a:t>iOS/Android com React Native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005840"/>
            <a:ext cx="28346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188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EA5E9"/>
                </a:solidFill>
                <a:latin typeface="Calibri"/>
              </a:defRPr>
            </a:pPr>
            <a:r>
              <a:t>AISP License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60020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64738B"/>
                </a:solidFill>
                <a:latin typeface="Calibri"/>
              </a:defRPr>
            </a:pPr>
            <a:r>
              <a:t>Licença Open Banking oficial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005840"/>
            <a:ext cx="28346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188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EA5E9"/>
                </a:solidFill>
                <a:latin typeface="Calibri"/>
              </a:defRPr>
            </a:pPr>
            <a:r>
              <a:t>Investimentos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60020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64738B"/>
                </a:solidFill>
                <a:latin typeface="Calibri"/>
              </a:defRPr>
            </a:pPr>
            <a:r>
              <a:t>Recomendações portfolio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28346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432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EA5E9"/>
                </a:solidFill>
                <a:latin typeface="Calibri"/>
              </a:defRPr>
            </a:pPr>
            <a:r>
              <a:t>Digital Twin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546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64738B"/>
                </a:solidFill>
                <a:latin typeface="Calibri"/>
              </a:defRPr>
            </a:pPr>
            <a:r>
              <a:t>Avatar financeiro pessoal com 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2560320"/>
            <a:ext cx="28346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27432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EA5E9"/>
                </a:solidFill>
                <a:latin typeface="Calibri"/>
              </a:defRPr>
            </a:pPr>
            <a:r>
              <a:t>Gamification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1546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64738B"/>
                </a:solidFill>
                <a:latin typeface="Calibri"/>
              </a:defRPr>
            </a:pPr>
            <a:r>
              <a:t>Desafios financeiros e badges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560320"/>
            <a:ext cx="28346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EA5E9"/>
                </a:solidFill>
                <a:latin typeface="Calibri"/>
              </a:defRPr>
            </a:pPr>
            <a:r>
              <a:t>Expansão EU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1546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64738B"/>
                </a:solidFill>
                <a:latin typeface="Calibri"/>
              </a:defRPr>
            </a:pPr>
            <a:r>
              <a:t>Suporte a outros países europeus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38B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EA5E9"/>
                </a:solidFill>
                <a:latin typeface="Calibri"/>
              </a:defRPr>
            </a:pPr>
            <a:r>
              <a:t>Obrigado!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Henrique Miguel Silva Laia</a:t>
            </a:r>
          </a:p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henrique.laia@student.ubi.pt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GitHub: github.com/henriquelaia/fintwin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Universidade da Beira Interior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Departamento de Informática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