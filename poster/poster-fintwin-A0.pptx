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8"/>
    <p:restoredTop sz="94726"/>
  </p:normalViewPr>
  <p:slideViewPr>
    <p:cSldViewPr snapToGrid="0">
      <p:cViewPr>
        <p:scale>
          <a:sx n="61" d="100"/>
          <a:sy n="61" d="100"/>
        </p:scale>
        <p:origin x="-4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485-965A-F449-BD11-946DA47978D7}" type="datetimeFigureOut">
              <a:rPr lang="pt-PT" smtClean="0"/>
              <a:t>14/01/26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B2E-C8CF-AC4C-A426-8071FA51533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469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485-965A-F449-BD11-946DA47978D7}" type="datetimeFigureOut">
              <a:rPr lang="pt-PT" smtClean="0"/>
              <a:t>14/01/26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B2E-C8CF-AC4C-A426-8071FA51533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495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485-965A-F449-BD11-946DA47978D7}" type="datetimeFigureOut">
              <a:rPr lang="pt-PT" smtClean="0"/>
              <a:t>14/01/26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B2E-C8CF-AC4C-A426-8071FA51533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29073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485-965A-F449-BD11-946DA47978D7}" type="datetimeFigureOut">
              <a:rPr lang="pt-PT" smtClean="0"/>
              <a:t>14/01/26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B2E-C8CF-AC4C-A426-8071FA51533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0194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485-965A-F449-BD11-946DA47978D7}" type="datetimeFigureOut">
              <a:rPr lang="pt-PT" smtClean="0"/>
              <a:t>14/01/26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B2E-C8CF-AC4C-A426-8071FA51533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81967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485-965A-F449-BD11-946DA47978D7}" type="datetimeFigureOut">
              <a:rPr lang="pt-PT" smtClean="0"/>
              <a:t>14/01/26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B2E-C8CF-AC4C-A426-8071FA51533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419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485-965A-F449-BD11-946DA47978D7}" type="datetimeFigureOut">
              <a:rPr lang="pt-PT" smtClean="0"/>
              <a:t>14/01/26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B2E-C8CF-AC4C-A426-8071FA51533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30921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485-965A-F449-BD11-946DA47978D7}" type="datetimeFigureOut">
              <a:rPr lang="pt-PT" smtClean="0"/>
              <a:t>14/01/26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B2E-C8CF-AC4C-A426-8071FA51533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1155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485-965A-F449-BD11-946DA47978D7}" type="datetimeFigureOut">
              <a:rPr lang="pt-PT" smtClean="0"/>
              <a:t>14/01/26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B2E-C8CF-AC4C-A426-8071FA51533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5248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485-965A-F449-BD11-946DA47978D7}" type="datetimeFigureOut">
              <a:rPr lang="pt-PT" smtClean="0"/>
              <a:t>14/01/26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B2E-C8CF-AC4C-A426-8071FA51533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7780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485-965A-F449-BD11-946DA47978D7}" type="datetimeFigureOut">
              <a:rPr lang="pt-PT" smtClean="0"/>
              <a:t>14/01/26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B2E-C8CF-AC4C-A426-8071FA51533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5383218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EE485-965A-F449-BD11-946DA47978D7}" type="datetimeFigureOut">
              <a:rPr lang="pt-PT" smtClean="0"/>
              <a:t>14/01/26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F0B2E-C8CF-AC4C-A426-8071FA51533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9290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pexels.com/photo/african-applied-art-art-back-95975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98">
            <a:extLst>
              <a:ext uri="{FF2B5EF4-FFF2-40B4-BE49-F238E27FC236}">
                <a16:creationId xmlns:a16="http://schemas.microsoft.com/office/drawing/2014/main" id="{810C8C61-CFD9-1315-1E04-A8B52A233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166781" cy="428037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PT" sz="6975" noProof="0" dirty="0">
              <a:solidFill>
                <a:srgbClr val="E64B3C"/>
              </a:solidFill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9D91E5A7-E2BF-3E1F-6315-A9E5EA035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673" y="1524944"/>
            <a:ext cx="20471367" cy="230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4029075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79600" defTabSz="4029075">
              <a:spcBef>
                <a:spcPct val="20000"/>
              </a:spcBef>
              <a:buChar char="–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760788" defTabSz="4029075">
              <a:spcBef>
                <a:spcPct val="20000"/>
              </a:spcBef>
              <a:buChar char="•"/>
              <a:defRPr sz="1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640388" defTabSz="4029075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7521575" defTabSz="4029075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7978775" defTabSz="4029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8435975" defTabSz="4029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8893175" defTabSz="4029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9350375" defTabSz="40290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pt-PT" sz="6400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 Extra Bold" panose="00000900000000000000" pitchFamily="50" charset="0"/>
                <a:cs typeface="Calibri" panose="020F0502020204030204" pitchFamily="34" charset="0"/>
              </a:rPr>
              <a:t>Plataforma de Gestão Financeira Pessoal com Integração Open Banking e IA para o Mercado Português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CB98E304-4899-1A30-BCA8-66E9A09D7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673" y="4256003"/>
            <a:ext cx="20471367" cy="123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3760788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79600" defTabSz="3760788">
              <a:spcBef>
                <a:spcPct val="20000"/>
              </a:spcBef>
              <a:buChar char="–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760788" defTabSz="3760788">
              <a:spcBef>
                <a:spcPct val="20000"/>
              </a:spcBef>
              <a:buChar char="•"/>
              <a:defRPr sz="1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640388" defTabSz="3760788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7521575" defTabSz="3760788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7978775" defTabSz="37607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8435975" defTabSz="37607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8893175" defTabSz="37607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9350375" defTabSz="37607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pt-PT" sz="4200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Domine" panose="02040503040403060204" pitchFamily="18" charset="0"/>
                <a:cs typeface="Calibri" panose="020F0502020204030204" pitchFamily="34" charset="0"/>
              </a:rPr>
              <a:t>Henrique Miguel Silva Laia, henrique.laia@ubi.pt</a:t>
            </a:r>
          </a:p>
          <a:p>
            <a:pPr algn="ctr" eaLnBrk="1" hangingPunct="1">
              <a:buFontTx/>
              <a:buNone/>
            </a:pPr>
            <a:r>
              <a:rPr lang="pt-PT" sz="3200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Domine" panose="02040503040403060204" pitchFamily="18" charset="0"/>
                <a:cs typeface="Calibri" panose="020F0502020204030204" pitchFamily="34" charset="0"/>
              </a:rPr>
              <a:t>Orientação científica a cargo de Professor Doutor Nuno Pombo (</a:t>
            </a:r>
            <a:r>
              <a:rPr lang="pt-PT" sz="3200" noProof="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Domine" panose="02040503040403060204" pitchFamily="18" charset="0"/>
                <a:cs typeface="Calibri" panose="020F0502020204030204" pitchFamily="34" charset="0"/>
              </a:rPr>
              <a:t>es</a:t>
            </a:r>
            <a:r>
              <a:rPr lang="pt-PT" sz="3200" noProof="0" dirty="0">
                <a:solidFill>
                  <a:schemeClr val="tx2">
                    <a:lumMod val="90000"/>
                    <a:lumOff val="10000"/>
                  </a:schemeClr>
                </a:solidFill>
                <a:latin typeface="Domine" panose="02040503040403060204" pitchFamily="18" charset="0"/>
                <a:cs typeface="Calibri" panose="020F0502020204030204" pitchFamily="34" charset="0"/>
              </a:rPr>
              <a:t>).</a:t>
            </a:r>
          </a:p>
        </p:txBody>
      </p:sp>
      <p:sp>
        <p:nvSpPr>
          <p:cNvPr id="22" name="Text Box 379">
            <a:extLst>
              <a:ext uri="{FF2B5EF4-FFF2-40B4-BE49-F238E27FC236}">
                <a16:creationId xmlns:a16="http://schemas.microsoft.com/office/drawing/2014/main" id="{F0444E7B-D978-D997-8824-78BA6AD91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7896878"/>
            <a:ext cx="10721032" cy="505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703763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03763">
              <a:spcBef>
                <a:spcPct val="20000"/>
              </a:spcBef>
              <a:buChar char="–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03763">
              <a:spcBef>
                <a:spcPct val="20000"/>
              </a:spcBef>
              <a:buChar char="•"/>
              <a:defRPr sz="1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03763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03763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pt-PT" sz="2400" noProof="0" dirty="0">
                <a:latin typeface="Domine" panose="02040503040403060204" pitchFamily="18" charset="0"/>
              </a:rPr>
              <a:t>A transformação digital do setor financeiro e a diretiva PSD2 abriram caminho para plataformas de agregação bancária. Contudo, no mercado português não existe uma solução que combine Open Banking, categorização automática com Machine Learning e simulação de IRS. O FinTwin é uma plataforma web que preenche esta lacuna, oferecendo: agregação de contas via Salt Edge API; categorização inteligente com TF-IDF + Random Forest; simulador fiscal de IRS; interface com design Liquid Glass; e conformidade WCAG AA.</a:t>
            </a:r>
          </a:p>
        </p:txBody>
      </p:sp>
      <p:sp>
        <p:nvSpPr>
          <p:cNvPr id="23" name="AutoShape 396">
            <a:extLst>
              <a:ext uri="{FF2B5EF4-FFF2-40B4-BE49-F238E27FC236}">
                <a16:creationId xmlns:a16="http://schemas.microsoft.com/office/drawing/2014/main" id="{5371D2EE-840F-B9D8-1ED9-6A2DE743D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6883234"/>
            <a:ext cx="10721032" cy="789164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none" lIns="205740" anchor="ctr"/>
          <a:lstStyle>
            <a:lvl1pPr defTabSz="4702175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02175">
              <a:spcBef>
                <a:spcPct val="20000"/>
              </a:spcBef>
              <a:buChar char="–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02175">
              <a:spcBef>
                <a:spcPct val="20000"/>
              </a:spcBef>
              <a:buChar char="•"/>
              <a:defRPr sz="1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02175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02175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sz="3600" noProof="0" dirty="0">
                <a:solidFill>
                  <a:schemeClr val="bg1"/>
                </a:solidFill>
                <a:latin typeface="Montserrat" panose="00000500000000000000" pitchFamily="50" charset="0"/>
                <a:cs typeface="Calibri" panose="020F0502020204030204" pitchFamily="34" charset="0"/>
              </a:rPr>
              <a:t>INTRODUÇÃO</a:t>
            </a:r>
          </a:p>
        </p:txBody>
      </p:sp>
      <p:sp>
        <p:nvSpPr>
          <p:cNvPr id="24" name="Text Box 379">
            <a:extLst>
              <a:ext uri="{FF2B5EF4-FFF2-40B4-BE49-F238E27FC236}">
                <a16:creationId xmlns:a16="http://schemas.microsoft.com/office/drawing/2014/main" id="{AAA9F105-2FBD-57D7-63BC-F38B407C1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54600" y="7896878"/>
            <a:ext cx="10721032" cy="505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703763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03763">
              <a:spcBef>
                <a:spcPct val="20000"/>
              </a:spcBef>
              <a:buChar char="–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03763">
              <a:spcBef>
                <a:spcPct val="20000"/>
              </a:spcBef>
              <a:buChar char="•"/>
              <a:defRPr sz="1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03763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03763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pt-PT" sz="2400" noProof="0" dirty="0">
                <a:latin typeface="Domine" panose="02040503040403060204" pitchFamily="18" charset="0"/>
              </a:rPr>
              <a:t>Stack tecnológica: React 18 + TypeScript (frontend), Node.js + Express (backend), Python + scikit-learn (ML), PostgreSQL 16, Redis 7, Docker. Ambiente containerizado com 5 serviços. Categorização ML com 15 categorias portuguesas (Supermercado, Restauração, Transportes, Saúde, etc.) e seed data nacional. Simulador IRS com escalões, deduções e categorias A/B. Dashboard com gráficos interativos (Recharts) e modo claro/escuro.</a:t>
            </a:r>
          </a:p>
        </p:txBody>
      </p:sp>
      <p:sp>
        <p:nvSpPr>
          <p:cNvPr id="25" name="AutoShape 396">
            <a:extLst>
              <a:ext uri="{FF2B5EF4-FFF2-40B4-BE49-F238E27FC236}">
                <a16:creationId xmlns:a16="http://schemas.microsoft.com/office/drawing/2014/main" id="{2B55A6D7-ED4E-BAE8-5984-0508C7110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4600" y="6883234"/>
            <a:ext cx="10721032" cy="789164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none" lIns="205740" anchor="ctr"/>
          <a:lstStyle>
            <a:lvl1pPr defTabSz="4702175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02175">
              <a:spcBef>
                <a:spcPct val="20000"/>
              </a:spcBef>
              <a:buChar char="–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02175">
              <a:spcBef>
                <a:spcPct val="20000"/>
              </a:spcBef>
              <a:buChar char="•"/>
              <a:defRPr sz="1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02175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02175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sz="3600" noProof="0" dirty="0">
                <a:solidFill>
                  <a:schemeClr val="bg1"/>
                </a:solidFill>
                <a:latin typeface="Montserrat" panose="00000500000000000000" pitchFamily="50" charset="0"/>
                <a:cs typeface="Calibri" panose="020F0502020204030204" pitchFamily="34" charset="0"/>
              </a:rPr>
              <a:t>RESULTADOS</a:t>
            </a:r>
          </a:p>
        </p:txBody>
      </p:sp>
      <p:sp>
        <p:nvSpPr>
          <p:cNvPr id="26" name="Text Box 379">
            <a:extLst>
              <a:ext uri="{FF2B5EF4-FFF2-40B4-BE49-F238E27FC236}">
                <a16:creationId xmlns:a16="http://schemas.microsoft.com/office/drawing/2014/main" id="{4BB43568-7C52-8A59-9D3F-E3606B131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22554639"/>
            <a:ext cx="10721032" cy="2020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703763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03763">
              <a:spcBef>
                <a:spcPct val="20000"/>
              </a:spcBef>
              <a:buChar char="–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03763">
              <a:spcBef>
                <a:spcPct val="20000"/>
              </a:spcBef>
              <a:buChar char="•"/>
              <a:defRPr sz="1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03763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03763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pt-PT" sz="2400" noProof="0" dirty="0">
                <a:latin typeface="Domine" panose="02040503040403060204" pitchFamily="18" charset="0"/>
              </a:rPr>
              <a:t>Scrum adaptado para desenvolvimento individual, 8 sprints de 2 semanas (Abril-Julho 2026). Fase 1: Investigação e planeamento. Fase 2: Desenvolvimento do MVP (autenticação, Open Banking, dashboard, ML, IRS, UI). Fase 3: Testes de usabilidade (SUS) com 10-15 utilizadores. Fase 4: Documentação e entrega. Ambiente Docker com CI/CD via GitHub Actions (</a:t>
            </a:r>
            <a:r>
              <a:rPr lang="pt-PT" sz="2400" noProof="0" dirty="0" err="1">
                <a:latin typeface="Domine" panose="02040503040403060204" pitchFamily="18" charset="0"/>
              </a:rPr>
              <a:t>cont</a:t>
            </a:r>
            <a:r>
              <a:rPr lang="pt-PT" sz="2400" noProof="0" dirty="0">
                <a:latin typeface="Domine" panose="02040503040403060204" pitchFamily="18" charset="0"/>
              </a:rPr>
              <a:t xml:space="preserve">.). </a:t>
            </a:r>
          </a:p>
          <a:p>
            <a:pPr eaLnBrk="1" hangingPunct="1">
              <a:buNone/>
            </a:pPr>
            <a:endParaRPr lang="pt-PT" sz="2400" dirty="0"/>
          </a:p>
        </p:txBody>
      </p:sp>
      <p:sp>
        <p:nvSpPr>
          <p:cNvPr id="27" name="AutoShape 396">
            <a:extLst>
              <a:ext uri="{FF2B5EF4-FFF2-40B4-BE49-F238E27FC236}">
                <a16:creationId xmlns:a16="http://schemas.microsoft.com/office/drawing/2014/main" id="{80A7CAB3-A12B-022D-F098-B1B9E6A22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21540995"/>
            <a:ext cx="10721032" cy="789164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none" lIns="205740" anchor="ctr"/>
          <a:lstStyle>
            <a:lvl1pPr defTabSz="4702175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02175">
              <a:spcBef>
                <a:spcPct val="20000"/>
              </a:spcBef>
              <a:buChar char="–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02175">
              <a:spcBef>
                <a:spcPct val="20000"/>
              </a:spcBef>
              <a:buChar char="•"/>
              <a:defRPr sz="1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02175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02175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sz="3600" noProof="0" dirty="0">
                <a:solidFill>
                  <a:schemeClr val="bg1"/>
                </a:solidFill>
                <a:latin typeface="Montserrat" panose="00000500000000000000" pitchFamily="50" charset="0"/>
                <a:cs typeface="Calibri" panose="020F0502020204030204" pitchFamily="34" charset="0"/>
              </a:rPr>
              <a:t>METODOLOGIA</a:t>
            </a:r>
          </a:p>
        </p:txBody>
      </p:sp>
      <p:sp>
        <p:nvSpPr>
          <p:cNvPr id="28" name="Text Box 379">
            <a:extLst>
              <a:ext uri="{FF2B5EF4-FFF2-40B4-BE49-F238E27FC236}">
                <a16:creationId xmlns:a16="http://schemas.microsoft.com/office/drawing/2014/main" id="{B52D1378-E1A0-1918-37E3-8A22219D2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54600" y="39443252"/>
            <a:ext cx="10721032" cy="1392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703763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03763">
              <a:spcBef>
                <a:spcPct val="20000"/>
              </a:spcBef>
              <a:buChar char="–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03763">
              <a:spcBef>
                <a:spcPct val="20000"/>
              </a:spcBef>
              <a:buChar char="•"/>
              <a:defRPr sz="1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03763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03763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pt-PT" sz="2400" noProof="0" dirty="0">
                <a:latin typeface="Domine" panose="02040503040403060204" pitchFamily="18" charset="0"/>
              </a:rPr>
              <a:t>Agradecimentos ao Professor Doutor Nuno Pombo pela orientação, à Universidade da Beira Interior e ao Departamento de Informática pelos recursos disponibilizados, e à família, namorada e amigos pelo apoio incondicional ao longo deste percurso.</a:t>
            </a:r>
          </a:p>
        </p:txBody>
      </p:sp>
      <p:sp>
        <p:nvSpPr>
          <p:cNvPr id="29" name="AutoShape 396">
            <a:extLst>
              <a:ext uri="{FF2B5EF4-FFF2-40B4-BE49-F238E27FC236}">
                <a16:creationId xmlns:a16="http://schemas.microsoft.com/office/drawing/2014/main" id="{68A5104F-7008-83EE-1460-8DC5511FB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4600" y="35468304"/>
            <a:ext cx="10721032" cy="789164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none" lIns="205740" anchor="ctr"/>
          <a:lstStyle>
            <a:lvl1pPr defTabSz="4702175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02175">
              <a:spcBef>
                <a:spcPct val="20000"/>
              </a:spcBef>
              <a:buChar char="–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02175">
              <a:spcBef>
                <a:spcPct val="20000"/>
              </a:spcBef>
              <a:buChar char="•"/>
              <a:defRPr sz="1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02175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02175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sz="3600" noProof="0" dirty="0">
                <a:solidFill>
                  <a:schemeClr val="bg1"/>
                </a:solidFill>
                <a:latin typeface="Montserrat" panose="00000500000000000000" pitchFamily="50" charset="0"/>
                <a:cs typeface="Calibri" panose="020F0502020204030204" pitchFamily="34" charset="0"/>
              </a:rPr>
              <a:t>BIOGRAFIA E AGRADECIMENTOS</a:t>
            </a:r>
          </a:p>
        </p:txBody>
      </p:sp>
      <p:sp>
        <p:nvSpPr>
          <p:cNvPr id="30" name="Text Box 379">
            <a:extLst>
              <a:ext uri="{FF2B5EF4-FFF2-40B4-BE49-F238E27FC236}">
                <a16:creationId xmlns:a16="http://schemas.microsoft.com/office/drawing/2014/main" id="{487CEDF8-C82E-9A67-144A-D8E68BF8D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54600" y="22554637"/>
            <a:ext cx="10721032" cy="505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703763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03763">
              <a:spcBef>
                <a:spcPct val="20000"/>
              </a:spcBef>
              <a:buChar char="–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03763">
              <a:spcBef>
                <a:spcPct val="20000"/>
              </a:spcBef>
              <a:buChar char="•"/>
              <a:defRPr sz="1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03763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03763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pt-PT" sz="2400" noProof="0" dirty="0">
                <a:latin typeface="Domine" panose="02040503040403060204" pitchFamily="18" charset="0"/>
              </a:rPr>
              <a:t>O FinTwin demonstra a viabilidade de uma plataforma PFM focada no mercado português, combinando tecnologias maduras (React, Node.js, PostgreSQL) com Open Banking e ML. As principais contribuições incluem: integração PSD2 com bancos portugueses via Salt Edge; categorização automática adaptada ao contexto nacional; simulador de IRS funcional; e design Liquid Glass inovador. Trabalho futuro: app móvel nativa, licença AISP, integração com investimentos e Digital Twin Financeiro completo.</a:t>
            </a:r>
          </a:p>
        </p:txBody>
      </p:sp>
      <p:sp>
        <p:nvSpPr>
          <p:cNvPr id="31" name="AutoShape 396">
            <a:extLst>
              <a:ext uri="{FF2B5EF4-FFF2-40B4-BE49-F238E27FC236}">
                <a16:creationId xmlns:a16="http://schemas.microsoft.com/office/drawing/2014/main" id="{A83C9AA3-7767-83B3-4433-E4DB5530A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4600" y="21540995"/>
            <a:ext cx="10721032" cy="789164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none" lIns="205740" anchor="ctr"/>
          <a:lstStyle>
            <a:lvl1pPr defTabSz="4702175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02175">
              <a:spcBef>
                <a:spcPct val="20000"/>
              </a:spcBef>
              <a:buChar char="–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02175">
              <a:spcBef>
                <a:spcPct val="20000"/>
              </a:spcBef>
              <a:buChar char="•"/>
              <a:defRPr sz="1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02175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02175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0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sz="3600" noProof="0" dirty="0">
                <a:solidFill>
                  <a:schemeClr val="bg1"/>
                </a:solidFill>
                <a:latin typeface="Montserrat" panose="00000500000000000000" pitchFamily="50" charset="0"/>
                <a:cs typeface="Calibri" panose="020F0502020204030204" pitchFamily="34" charset="0"/>
              </a:rPr>
              <a:t>CONCLUSÃO</a:t>
            </a:r>
          </a:p>
        </p:txBody>
      </p:sp>
      <p:pic>
        <p:nvPicPr>
          <p:cNvPr id="1028" name="Picture 4" descr="Nenhuma descrição de foto disponível.">
            <a:extLst>
              <a:ext uri="{FF2B5EF4-FFF2-40B4-BE49-F238E27FC236}">
                <a16:creationId xmlns:a16="http://schemas.microsoft.com/office/drawing/2014/main" id="{705D1F76-3D1D-6518-0806-817AD136B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6464" y="389358"/>
            <a:ext cx="5043869" cy="5043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379">
            <a:extLst>
              <a:ext uri="{FF2B5EF4-FFF2-40B4-BE49-F238E27FC236}">
                <a16:creationId xmlns:a16="http://schemas.microsoft.com/office/drawing/2014/main" id="{4808BAEF-40B3-2A7C-617C-01A9112E2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9088" y="36540550"/>
            <a:ext cx="8456544" cy="1392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703763">
              <a:spcBef>
                <a:spcPct val="20000"/>
              </a:spcBef>
              <a:buChar char="•"/>
              <a:defRPr sz="16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703763">
              <a:spcBef>
                <a:spcPct val="20000"/>
              </a:spcBef>
              <a:buChar char="–"/>
              <a:defRPr sz="1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703763">
              <a:spcBef>
                <a:spcPct val="20000"/>
              </a:spcBef>
              <a:buChar char="•"/>
              <a:defRPr sz="1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703763">
              <a:spcBef>
                <a:spcPct val="20000"/>
              </a:spcBef>
              <a:buChar char="–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703763">
              <a:spcBef>
                <a:spcPct val="20000"/>
              </a:spcBef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7037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pt-PT" sz="2400" noProof="0" dirty="0">
                <a:latin typeface="Domine" panose="02040503040403060204" pitchFamily="18" charset="0"/>
              </a:rPr>
              <a:t>Henrique Miguel Silva Laia, estudante de Engenharia Informática na Universidade da Beira Interior (Nº 51667). Interesses em fintech, desenvolvimento web full-stack, machine learning e design de interfaces. Experiência com React, TypeScript, Node.js e Python.</a:t>
            </a:r>
          </a:p>
        </p:txBody>
      </p:sp>
      <p:pic>
        <p:nvPicPr>
          <p:cNvPr id="6" name="Picture 5" descr="A person with curly hair  AI-generated content may be incorrect.">
            <a:extLst>
              <a:ext uri="{FF2B5EF4-FFF2-40B4-BE49-F238E27FC236}">
                <a16:creationId xmlns:a16="http://schemas.microsoft.com/office/drawing/2014/main" id="{583DC112-5C4C-7214-0624-FE53048EE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7554602" y="36540550"/>
            <a:ext cx="1800000" cy="22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833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17711</TotalTime>
  <Words>217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Domine</vt:lpstr>
      <vt:lpstr>Montserrat</vt:lpstr>
      <vt:lpstr>Montserrat Extra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FAZENDEIRO</dc:creator>
  <cp:lastModifiedBy>PAULO FAZENDEIRO</cp:lastModifiedBy>
  <cp:revision>5</cp:revision>
  <dcterms:created xsi:type="dcterms:W3CDTF">2025-02-13T10:00:10Z</dcterms:created>
  <dcterms:modified xsi:type="dcterms:W3CDTF">2026-01-26T17:24:32Z</dcterms:modified>
</cp:coreProperties>
</file>